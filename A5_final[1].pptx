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61" r:id="rId10"/>
    <p:sldId id="267" r:id="rId11"/>
    <p:sldId id="262" r:id="rId12"/>
    <p:sldId id="263" r:id="rId13"/>
    <p:sldId id="264" r:id="rId14"/>
    <p:sldId id="271" r:id="rId15"/>
    <p:sldId id="265" r:id="rId16"/>
    <p:sldId id="27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22620F-4469-48F4-9451-B5D6B326963B}" v="15" dt="2025-01-29T12:39:11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8462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B5224-F518-43C1-AC94-1002813D44A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A2389-9E6F-4302-8DCF-DE97C03481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463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9A2389-9E6F-4302-8DCF-DE97C034816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488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AC6E-2ED3-DEA0-A3E4-A323464AC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39A9D-2301-FAB6-A752-DCDDFE554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5968C-5CC7-A9B8-1A74-0EB71974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79EE4-2300-0F0B-A1EF-AE444457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077D-FE22-A88C-1BAC-E2DDBA2AC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162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DB54E-F811-51C1-5341-676D06C8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6B4B3-E3BD-F5AA-9C49-7797799ED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2350E-A629-699F-8DF7-1542A253F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5F26F-70AB-EB3F-1F43-F3DE400A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05239-C83F-97BC-FE7D-80147F1B2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911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C3D6E-33F2-6AB0-1B10-0BFFAFC6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49423-FF15-52B7-6439-9B2B34FCD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331CC-7152-FF3C-53ED-087875FD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A3F5-8958-F3C7-601D-ADD068327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A499F-398C-1DB1-91A9-D09F87A2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78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5397-0991-7ADB-FA90-A7DB3222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2A4F6-4565-91A1-0F57-E12474C30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FF6F3-CF72-83E3-9C29-5CF32C410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D6FCF-1F71-8AD1-66CD-A14238EA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875CC-3FDA-373A-9770-BECF323F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FF292-060E-97C9-F504-73236F40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212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9466F-625A-C389-4450-7E74E80E4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A991C-2872-9E99-4CBC-811270D97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8730A-769F-A514-3A35-9D0327629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3675D9-D025-48F3-89E4-53F3F2489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A28FA-A249-7A6D-8A02-B8240BF508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BEC20C-AE11-DC9E-EDD3-36A7D4B7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965350-F32D-C903-C717-676FD369E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64D00-96F6-C2E6-3F53-105A6DD96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426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D4DD0-AC33-99C9-C2F8-B9DF8DEA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1D32B-49B9-5E48-DC7A-1E2743446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B4481-B3AA-73A5-A94A-12CF8213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4CB38-EB9E-972B-5AC4-BFDC4ED1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16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92A7F0-4963-3600-0BB8-CD64F7EAA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08BE02-B887-C7FA-F6E7-A3E16D4A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4F4B1-7790-E0AB-2110-8B7BD4EF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01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E77F-9C6E-9CEC-07E2-363DB8183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12333-66D6-B5FC-A8FC-D9445CC75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44FB4-7295-D31E-9317-58BABE28A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57C4B-199B-33AB-D6E4-B9928078F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E1A3B-B557-70F0-5B58-C8AF3BDD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AD4A9-D861-EC2F-D807-C2BCA3E3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415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4397-9BB3-8C87-945E-83D2B0ED2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8A12F-1337-20BB-09B6-4403FA0D1F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7FF13-F12E-327C-5A92-05E0EE175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3BF5D-F23E-8B04-294B-BCD2AB4EB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FA958-9B69-1BBD-952B-09CBA59D4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ABABD-E81F-8FC2-445C-8F29139B2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248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057F8-2E50-404C-DBB9-3C37036C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407C6-C0DE-A8E2-3CDC-5709521C4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10854-7729-5EA2-D731-06744EED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70525-3E12-BC98-4E57-EB0B53393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A69A2-05B7-DE7D-6F7B-C5C89748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37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F1E6D-0579-6B6B-F6FA-CA4DDA93E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739D9-F85C-06A0-FB39-4919FD156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3E031-D69A-D3D4-C008-E3A81EA7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B87CD-935B-D2B6-42E6-508A91CC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DFC9B-4A70-6402-9DD4-B2EFECFE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39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F7F773-6156-7210-AFD7-CADA3F6EE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E3432-651E-A776-8A69-A0750363E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E3B41-5F77-6D14-3FF6-BF102720F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B11AE-EF8E-4573-A488-A7E14A205DE8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D688C-5E44-C971-7066-3E45A6819C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10AD4-F252-0B72-72D8-6C37DADCB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C4826-882B-4846-9D68-829DB2FD30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770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DD363-24E6-5A33-96B1-53846B557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760" y="508001"/>
            <a:ext cx="10376851" cy="2921000"/>
          </a:xfrm>
        </p:spPr>
        <p:txBody>
          <a:bodyPr>
            <a:noAutofit/>
          </a:bodyPr>
          <a:lstStyle/>
          <a:p>
            <a:pPr marL="628015" marR="1259205" indent="9525" algn="ctr">
              <a:lnSpc>
                <a:spcPct val="115000"/>
              </a:lnSpc>
              <a:spcBef>
                <a:spcPts val="31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en-US" sz="36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Integrated</a:t>
            </a:r>
            <a:r>
              <a:rPr lang="en-US" sz="36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</a:t>
            </a:r>
            <a:r>
              <a:rPr lang="en-US" sz="3600" b="1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Learning</a:t>
            </a:r>
            <a:r>
              <a:rPr lang="en-US" sz="36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Framework</a:t>
            </a:r>
            <a:r>
              <a:rPr lang="en-US" sz="3600" b="1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36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Crop Selection, Fertilizer</a:t>
            </a:r>
            <a:r>
              <a:rPr lang="en-US" sz="36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Suggestion, and Disease Diagnosis.</a:t>
            </a:r>
            <a:br>
              <a:rPr lang="en-IN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BD2B0-6D33-DD26-3C13-34DC7E022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3820887"/>
            <a:ext cx="8915399" cy="2082776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                                                                               1602-21-737-015        DEEPTHI M</a:t>
            </a:r>
          </a:p>
          <a:p>
            <a:r>
              <a:rPr lang="en-IN" dirty="0"/>
              <a:t>                                                                               1602-21-737-058        SUCHITH B</a:t>
            </a:r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Guide</a:t>
            </a:r>
          </a:p>
          <a:p>
            <a:r>
              <a:rPr lang="en-IN" dirty="0"/>
              <a:t>                                                                                </a:t>
            </a:r>
            <a:r>
              <a:rPr lang="en-IN" dirty="0" err="1"/>
              <a:t>C.Sireesha</a:t>
            </a:r>
            <a:endParaRPr lang="en-IN" dirty="0"/>
          </a:p>
          <a:p>
            <a:r>
              <a:rPr lang="en-IN" dirty="0"/>
              <a:t>                                                                                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062671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FAC3-3754-FAA2-D8E5-23DF46E8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765" y="613950"/>
            <a:ext cx="8911687" cy="867233"/>
          </a:xfrm>
        </p:spPr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4557DF-0E2A-168A-4DF2-6B6EB6AC55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5200" y="1684724"/>
            <a:ext cx="856270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harnesses the power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guide farmers in choosing the best crops and fertilizers, making agriculture more efficient and data-driven.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By analyzing key soil properties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N,P,K levels, pH, and rainfall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 system ensures that crops are selected based on what the land truly needs, rather than guesswork.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 model learns from real agricultural data, identifying patterns that help improve productivity and sustainability.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Instead of generic fertilizer use, the system suggests the right type and quantity based on soil deficiencies, promoting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healthier soil and higher crop yield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166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358B-47BD-A82B-FCFF-F59359CC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776510"/>
            <a:ext cx="8911687" cy="128089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36CB6D-F504-E9EB-6CEF-CE5BA7816D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3699246"/>
            <a:ext cx="87608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9116B-4041-D777-B6F5-AC0F7EA4D3EE}"/>
              </a:ext>
            </a:extLst>
          </p:cNvPr>
          <p:cNvSpPr txBox="1"/>
          <p:nvPr/>
        </p:nvSpPr>
        <p:spPr>
          <a:xfrm>
            <a:off x="2133600" y="2132876"/>
            <a:ext cx="9022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aims to 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Crop and Fertilizer Recommendation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 and </a:t>
            </a:r>
            <a:r>
              <a:rPr lang="en-US" altLang="en-US" b="1" dirty="0">
                <a:solidFill>
                  <a:schemeClr val="tx1"/>
                </a:solidFill>
              </a:rPr>
              <a:t>Random Forest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suggest the most suitable crop and fertilizer for cultivation.</a:t>
            </a:r>
          </a:p>
        </p:txBody>
      </p:sp>
    </p:spTree>
    <p:extLst>
      <p:ext uri="{BB962C8B-B14F-4D97-AF65-F5344CB8AC3E}">
        <p14:creationId xmlns:p14="http://schemas.microsoft.com/office/powerpoint/2010/main" val="2712096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8DE27-F425-5A89-D31C-71A4798F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PAPERS STUDIED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0BBA44-F2AF-A649-5F7B-CF08F062E9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1289605"/>
              </p:ext>
            </p:extLst>
          </p:nvPr>
        </p:nvGraphicFramePr>
        <p:xfrm>
          <a:off x="2589213" y="1436916"/>
          <a:ext cx="8703406" cy="5258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778">
                  <a:extLst>
                    <a:ext uri="{9D8B030D-6E8A-4147-A177-3AD203B41FA5}">
                      <a16:colId xmlns:a16="http://schemas.microsoft.com/office/drawing/2014/main" val="2863245802"/>
                    </a:ext>
                  </a:extLst>
                </a:gridCol>
                <a:gridCol w="1375700">
                  <a:extLst>
                    <a:ext uri="{9D8B030D-6E8A-4147-A177-3AD203B41FA5}">
                      <a16:colId xmlns:a16="http://schemas.microsoft.com/office/drawing/2014/main" val="1569231821"/>
                    </a:ext>
                  </a:extLst>
                </a:gridCol>
                <a:gridCol w="3923642">
                  <a:extLst>
                    <a:ext uri="{9D8B030D-6E8A-4147-A177-3AD203B41FA5}">
                      <a16:colId xmlns:a16="http://schemas.microsoft.com/office/drawing/2014/main" val="900001134"/>
                    </a:ext>
                  </a:extLst>
                </a:gridCol>
                <a:gridCol w="2615286">
                  <a:extLst>
                    <a:ext uri="{9D8B030D-6E8A-4147-A177-3AD203B41FA5}">
                      <a16:colId xmlns:a16="http://schemas.microsoft.com/office/drawing/2014/main" val="745657712"/>
                    </a:ext>
                  </a:extLst>
                </a:gridCol>
              </a:tblGrid>
              <a:tr h="759078">
                <a:tc>
                  <a:txBody>
                    <a:bodyPr/>
                    <a:lstStyle/>
                    <a:p>
                      <a:r>
                        <a:rPr lang="en-US" dirty="0"/>
                        <a:t>SNO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APPROACH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HIGHEST 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020361"/>
                  </a:ext>
                </a:extLst>
              </a:tr>
              <a:tr h="86492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Takalani </a:t>
                      </a:r>
                      <a:r>
                        <a:rPr lang="en-IN" dirty="0" err="1"/>
                        <a:t>Orifha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Mufamadi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Knn</a:t>
                      </a:r>
                      <a:r>
                        <a:rPr lang="en-US" dirty="0"/>
                        <a:t>, Random Forest, K-Star, Naive Bayes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91.30%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971701"/>
                  </a:ext>
                </a:extLst>
              </a:tr>
              <a:tr h="86492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none" dirty="0" err="1">
                          <a:solidFill>
                            <a:schemeClr val="tx1"/>
                          </a:solidFill>
                        </a:rPr>
                        <a:t>Priyadharshini</a:t>
                      </a:r>
                      <a:r>
                        <a:rPr lang="en-US" u="none" dirty="0">
                          <a:solidFill>
                            <a:schemeClr val="tx1"/>
                          </a:solidFill>
                        </a:rPr>
                        <a:t> A</a:t>
                      </a:r>
                      <a:endParaRPr lang="en-IN" u="none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Decision Tree, KNN ,Logistic </a:t>
                      </a:r>
                      <a:r>
                        <a:rPr lang="en-US" dirty="0" err="1"/>
                        <a:t>Regression,SVM</a:t>
                      </a:r>
                      <a:r>
                        <a:rPr lang="en-US" dirty="0"/>
                        <a:t> ,Naive Bayes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95.00%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92724"/>
                  </a:ext>
                </a:extLst>
              </a:tr>
              <a:tr h="1124396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Ashima </a:t>
                      </a:r>
                      <a:r>
                        <a:rPr lang="en-US" dirty="0" err="1"/>
                        <a:t>Kukkar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Naive Bayes, Random Forest, SVM, KNN, Decision Trees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97.07%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885264"/>
                  </a:ext>
                </a:extLst>
              </a:tr>
              <a:tr h="681594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Rakesh Kumar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KNN, Naïve Bayes ,Random Forest, K-Star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96.00%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662413"/>
                  </a:ext>
                </a:extLst>
              </a:tr>
              <a:tr h="86492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 Mythili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KNN, Logistic Regression ,SVM ,Bagged Tree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91.09%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703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319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19AC-78C5-31B9-489D-6C62CD7C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SOFTWARE AND HARDWARE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F536-F65E-E688-32B6-13E4147BE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b="1" u="sng" dirty="0"/>
              <a:t>Hardware System Configuration: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Processor: 2 gigahertz (GHz) or faster processor.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RAM: 4 gigabyte (GB) for 32-bit or 4 GB for 64-bit.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Hard disk space: =&gt;16GB. 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b="1" u="sng" dirty="0"/>
              <a:t>Software Configuration: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Operating System: Windows XP/7/8/8.1/10, Linux and Mac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Coding Language: Python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Tools:  Pandas, </a:t>
            </a:r>
            <a:r>
              <a:rPr lang="en-US" sz="1800" dirty="0" err="1"/>
              <a:t>Numpy</a:t>
            </a:r>
            <a:r>
              <a:rPr lang="en-US" sz="1800" dirty="0"/>
              <a:t> ,Seaborn , </a:t>
            </a:r>
            <a:r>
              <a:rPr lang="en-US" sz="1800" dirty="0" err="1"/>
              <a:t>Pickle,Scikit</a:t>
            </a:r>
            <a:r>
              <a:rPr lang="en-US" sz="1800" dirty="0"/>
              <a:t>-learn, </a:t>
            </a:r>
            <a:r>
              <a:rPr lang="en-US" sz="1800" dirty="0" err="1"/>
              <a:t>Pytorch</a:t>
            </a:r>
            <a:r>
              <a:rPr lang="en-US" sz="1800"/>
              <a:t>  </a:t>
            </a:r>
            <a:endParaRPr lang="en-US" sz="180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Framework:  Flask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/>
              <a:t>Other Tools :  HTML, CSS, Bootstrap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302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35E9-E995-F215-07D5-29E083BF3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METHOLOGY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1C61D-0CDD-4961-5F09-69D03CA0C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96720"/>
            <a:ext cx="8915400" cy="47548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Random Forest</a:t>
            </a:r>
          </a:p>
          <a:p>
            <a:pPr marL="0" indent="0">
              <a:buNone/>
            </a:pPr>
            <a:r>
              <a:rPr lang="en-US" b="1" dirty="0"/>
              <a:t>Data Preprocessing</a:t>
            </a:r>
            <a:r>
              <a:rPr lang="en-US" dirty="0"/>
              <a:t> : Handling missing values, normalizing data.</a:t>
            </a:r>
          </a:p>
          <a:p>
            <a:pPr marL="0" indent="0">
              <a:buNone/>
            </a:pPr>
            <a:r>
              <a:rPr lang="en-US" b="1" dirty="0"/>
              <a:t>Feature Selection : </a:t>
            </a:r>
            <a:r>
              <a:rPr lang="en-US" dirty="0"/>
              <a:t>Identifying the most important parameters for crop prediction.</a:t>
            </a:r>
          </a:p>
          <a:p>
            <a:pPr marL="0" indent="0">
              <a:buNone/>
            </a:pPr>
            <a:r>
              <a:rPr lang="en-US" b="1" dirty="0"/>
              <a:t>Model Training</a:t>
            </a:r>
            <a:r>
              <a:rPr lang="en-US" dirty="0"/>
              <a:t>: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The algorithm creates </a:t>
            </a:r>
            <a:r>
              <a:rPr lang="en-US" b="1" dirty="0"/>
              <a:t>multiple decision trees</a:t>
            </a:r>
            <a:r>
              <a:rPr lang="en-US" dirty="0"/>
              <a:t> using random subsets of data.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Each tree makes an independent prediction.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The final crop recommendation is determined using </a:t>
            </a:r>
            <a:r>
              <a:rPr lang="en-US" b="1" dirty="0"/>
              <a:t>majority voting</a:t>
            </a:r>
            <a:r>
              <a:rPr lang="en-US" dirty="0"/>
              <a:t> or </a:t>
            </a:r>
            <a:r>
              <a:rPr lang="en-US" b="1" dirty="0"/>
              <a:t>averaging</a:t>
            </a:r>
            <a:r>
              <a:rPr lang="en-US" dirty="0"/>
              <a:t>.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b="1" dirty="0"/>
              <a:t>Hyperparameter Tuning</a:t>
            </a:r>
            <a:r>
              <a:rPr lang="en-US" dirty="0"/>
              <a:t> : Adjusting the number of trees, depth, and features considered per split for optimal performance.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b="1" dirty="0"/>
              <a:t>Prediction</a:t>
            </a:r>
            <a:r>
              <a:rPr lang="en-US" dirty="0"/>
              <a:t> : Given new soil and environmental conditions, the model predicts the best crop based on the trained trees.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903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683E3-893E-7E5E-D93A-1CBEF392E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AA5FA-E8CB-47C7-9DA9-641763EB6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70000"/>
            <a:ext cx="8915400" cy="46412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For Crop Recommendation:</a:t>
            </a:r>
          </a:p>
          <a:p>
            <a:pPr marL="0" indent="0">
              <a:buNone/>
            </a:pPr>
            <a:r>
              <a:rPr lang="en-IN" b="1" dirty="0"/>
              <a:t>XGBOOST</a:t>
            </a:r>
          </a:p>
          <a:p>
            <a:pPr marL="0" indent="0">
              <a:buNone/>
            </a:pPr>
            <a:r>
              <a:rPr lang="en-US" b="1" dirty="0"/>
              <a:t>Data Preprocessing</a:t>
            </a:r>
            <a:r>
              <a:rPr lang="en-US" dirty="0"/>
              <a:t>: Cleaning and normalizing the dataset.</a:t>
            </a:r>
          </a:p>
          <a:p>
            <a:pPr marL="0" indent="0">
              <a:buNone/>
            </a:pPr>
            <a:r>
              <a:rPr lang="en-US" b="1" dirty="0"/>
              <a:t>Feature Selection: </a:t>
            </a:r>
            <a:r>
              <a:rPr lang="en-US" dirty="0"/>
              <a:t>Identifying the most import soil and climate parameters for crop prediction.</a:t>
            </a:r>
          </a:p>
          <a:p>
            <a:pPr marL="0" indent="0">
              <a:buNone/>
            </a:pPr>
            <a:r>
              <a:rPr lang="en-US" b="1" dirty="0"/>
              <a:t>Model Training</a:t>
            </a:r>
            <a:r>
              <a:rPr lang="en-US" dirty="0"/>
              <a:t>: </a:t>
            </a:r>
            <a:r>
              <a:rPr lang="en-US" dirty="0" err="1"/>
              <a:t>XGBoost</a:t>
            </a:r>
            <a:r>
              <a:rPr lang="en-US" dirty="0"/>
              <a:t> builds multiple decision trees sequentially, minimizing errors using gradient boosting.</a:t>
            </a:r>
          </a:p>
          <a:p>
            <a:pPr marL="0" indent="0">
              <a:buNone/>
            </a:pPr>
            <a:r>
              <a:rPr lang="en-US" b="1" dirty="0"/>
              <a:t>Hyperparameter Tuning</a:t>
            </a:r>
            <a:r>
              <a:rPr lang="en-US" dirty="0"/>
              <a:t>: Optimizing learning rate, max depth, number of estimators, etc., for better performance.</a:t>
            </a:r>
          </a:p>
          <a:p>
            <a:pPr marL="0" indent="0">
              <a:buNone/>
            </a:pPr>
            <a:r>
              <a:rPr lang="en-US" b="1" dirty="0"/>
              <a:t>Prediction</a:t>
            </a:r>
            <a:r>
              <a:rPr lang="en-US" dirty="0"/>
              <a:t>: Given new soil and environmental conditions, the model recommends the best crop.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09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3804D-F770-9E55-22A0-BD5FFA8D3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680720"/>
            <a:ext cx="9157652" cy="6096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1900" b="1" dirty="0"/>
              <a:t>For Fertilizer Recommendation: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Clr>
                <a:schemeClr val="tx1"/>
              </a:buClr>
              <a:buNone/>
            </a:pPr>
            <a:r>
              <a:rPr lang="en-US" b="1" dirty="0"/>
              <a:t>a) Random Forest Classifier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A bagging-based ensemble method that builds multiple decision trees.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Each tree is trained on a random subset of data.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The final prediction is made using majority voting or averaging.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b="1" dirty="0"/>
              <a:t>b) </a:t>
            </a:r>
            <a:r>
              <a:rPr lang="en-US" b="1" dirty="0" err="1"/>
              <a:t>XGBoost</a:t>
            </a:r>
            <a:r>
              <a:rPr lang="en-US" b="1" dirty="0"/>
              <a:t> Classifier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A boosting-based ensemble method that builds decision trees sequentially.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Each new tree corrects the errors made by previous trees.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Uses regularization to reduce overfitting and improve performance.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b="1" dirty="0"/>
              <a:t>c) Voting Classifier (Soft Voting)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Combines </a:t>
            </a:r>
            <a:r>
              <a:rPr lang="en-US" b="1" dirty="0"/>
              <a:t>Random Forest</a:t>
            </a:r>
            <a:r>
              <a:rPr lang="en-US" dirty="0"/>
              <a:t> and </a:t>
            </a:r>
            <a:r>
              <a:rPr lang="en-US" b="1" dirty="0" err="1"/>
              <a:t>XGBoost</a:t>
            </a:r>
            <a:r>
              <a:rPr lang="en-US" dirty="0"/>
              <a:t> into a single model.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soft voting</a:t>
            </a:r>
            <a:r>
              <a:rPr lang="en-US" dirty="0"/>
              <a:t>, meaning it takes the predicted probabilities from both models and averages them to make the final decision.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This improves accuracy and stability by leveraging the strengths of both models.</a:t>
            </a:r>
          </a:p>
          <a:p>
            <a:pPr marL="0" indent="0">
              <a:buNone/>
            </a:pPr>
            <a:r>
              <a:rPr lang="en-IN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039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C9EF4-6A3B-48A2-135A-C41AAD354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196" y="-116119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IN" dirty="0"/>
              <a:t>ARCHITECTURE </a:t>
            </a:r>
            <a:r>
              <a:rPr lang="en-IN" sz="3600" dirty="0"/>
              <a:t>DIAGRAM</a:t>
            </a:r>
            <a:br>
              <a:rPr lang="en-IN" sz="3600" dirty="0"/>
            </a:br>
            <a:endParaRPr lang="en-IN" dirty="0"/>
          </a:p>
        </p:txBody>
      </p:sp>
      <p:pic>
        <p:nvPicPr>
          <p:cNvPr id="9" name="Image 5">
            <a:extLst>
              <a:ext uri="{FF2B5EF4-FFF2-40B4-BE49-F238E27FC236}">
                <a16:creationId xmlns:a16="http://schemas.microsoft.com/office/drawing/2014/main" id="{BAFBFB3A-D577-DD06-4B01-9B5EBDCB3000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69440" y="477521"/>
            <a:ext cx="9489440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330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1C89-3D69-961E-E24C-1D0F89D4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IN" dirty="0"/>
              <a:t>DATASET DESCRIPTION</a:t>
            </a:r>
            <a:br>
              <a:rPr lang="en-IN" dirty="0"/>
            </a:b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  <a:latin typeface="inherit"/>
              </a:rPr>
            </a:b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6A25331-9034-9A0E-FA73-DF5B01782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52880"/>
            <a:ext cx="8915400" cy="51816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effectLst/>
              </a:rPr>
              <a:t>Crop recommendation dataset:</a:t>
            </a:r>
            <a:br>
              <a:rPr lang="en-IN" b="1" dirty="0">
                <a:solidFill>
                  <a:schemeClr val="tx1"/>
                </a:solidFill>
                <a:effectLst/>
              </a:rPr>
            </a:br>
            <a:r>
              <a:rPr lang="en-US" altLang="en-US" dirty="0">
                <a:solidFill>
                  <a:srgbClr val="3C4043"/>
                </a:solidFill>
              </a:rPr>
              <a:t>This dataset is obtained from Kaggle. It contains the following data fields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</a:rPr>
              <a:t>Data fields</a:t>
            </a:r>
          </a:p>
          <a:p>
            <a:pPr marL="0" indent="0">
              <a:buNone/>
            </a:pP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N - ratio of Nitrogen content in soil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P - ratio of Phosphorous content in soil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K - ratio of Potassium content in soil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temperature - temperature in degree Celsius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humidity - relative humidity in %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C4043"/>
                </a:solidFill>
                <a:effectLst/>
              </a:rPr>
              <a:t>ph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 -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C4043"/>
                </a:solidFill>
                <a:effectLst/>
              </a:rPr>
              <a:t>ph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 value of the soil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rainfall - rainfall in mm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</a:br>
            <a:br>
              <a:rPr lang="en-US" altLang="en-US" dirty="0">
                <a:solidFill>
                  <a:srgbClr val="3C4043"/>
                </a:solidFill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Fertilizer Recommendation Dataset :</a:t>
            </a: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</a:br>
            <a:r>
              <a:rPr lang="en-US" altLang="en-US" dirty="0">
                <a:solidFill>
                  <a:srgbClr val="3C4043"/>
                </a:solidFill>
              </a:rPr>
              <a:t>This data set is obtained from Kaggle It contains the following data fields</a:t>
            </a:r>
            <a:br>
              <a:rPr lang="en-US" altLang="en-US" dirty="0">
                <a:solidFill>
                  <a:srgbClr val="3C4043"/>
                </a:solidFill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Data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3C4043"/>
                </a:solidFill>
                <a:effectLst/>
              </a:rPr>
              <a:t>Fileds</a:t>
            </a:r>
            <a:br>
              <a:rPr lang="en-US" altLang="en-US" b="1" dirty="0">
                <a:solidFill>
                  <a:srgbClr val="3C4043"/>
                </a:solidFill>
              </a:rPr>
            </a:b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</a:br>
            <a:r>
              <a:rPr lang="en-US" altLang="en-US" dirty="0">
                <a:solidFill>
                  <a:srgbClr val="3C4043"/>
                </a:solidFill>
              </a:rPr>
              <a:t>Crop - Type of crop</a:t>
            </a:r>
            <a:br>
              <a:rPr lang="en-US" altLang="en-US" dirty="0">
                <a:solidFill>
                  <a:srgbClr val="3C4043"/>
                </a:solidFill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N - Ratio of Nitrogen content in soil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</a:br>
            <a:r>
              <a:rPr lang="en-US" altLang="en-US" dirty="0">
                <a:solidFill>
                  <a:srgbClr val="3C4043"/>
                </a:solidFill>
              </a:rPr>
              <a:t>P - ratio of Phosphorous content in soil</a:t>
            </a:r>
            <a:br>
              <a:rPr lang="en-US" altLang="en-US" dirty="0">
                <a:solidFill>
                  <a:srgbClr val="3C4043"/>
                </a:solidFill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K - ratio of Potassium content in soil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</a:br>
            <a:r>
              <a:rPr lang="en-US" altLang="en-US" dirty="0">
                <a:solidFill>
                  <a:srgbClr val="3C4043"/>
                </a:solidFill>
              </a:rPr>
              <a:t>pH - pH value of soil</a:t>
            </a:r>
            <a:br>
              <a:rPr lang="en-US" altLang="en-US" dirty="0">
                <a:solidFill>
                  <a:srgbClr val="3C4043"/>
                </a:solidFill>
              </a:rPr>
            </a:b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rgbClr val="3C4043"/>
                </a:solidFill>
                <a:effectLst/>
              </a:rPr>
              <a:t>Soil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3C4043"/>
                </a:solidFill>
                <a:effectLst/>
              </a:rPr>
              <a:t> </a:t>
            </a:r>
            <a:r>
              <a:rPr lang="en-US" altLang="en-US" dirty="0">
                <a:solidFill>
                  <a:srgbClr val="3C4043"/>
                </a:solidFill>
              </a:rPr>
              <a:t>Moisture - amount of  moisture in soil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9481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68592-8FC6-D77D-7C09-5E997C47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120E2C-472A-D1B1-3B96-97D3EFB6D6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2" t="6020" r="6438"/>
          <a:stretch/>
        </p:blipFill>
        <p:spPr bwMode="auto">
          <a:xfrm>
            <a:off x="1665514" y="1457778"/>
            <a:ext cx="4539343" cy="430076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0465D6-DD35-88CD-7AC1-2CB0A0CBF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439" y="1774371"/>
            <a:ext cx="4767271" cy="398417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5334C9-6A2E-B45B-C74C-717BC1FE8FD7}"/>
              </a:ext>
            </a:extLst>
          </p:cNvPr>
          <p:cNvSpPr txBox="1"/>
          <p:nvPr/>
        </p:nvSpPr>
        <p:spPr>
          <a:xfrm>
            <a:off x="2002972" y="5864558"/>
            <a:ext cx="3615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Input page for Crop Prediction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3BC7C-E9BC-8285-3A61-F77FD2AF8F6E}"/>
              </a:ext>
            </a:extLst>
          </p:cNvPr>
          <p:cNvSpPr txBox="1"/>
          <p:nvPr/>
        </p:nvSpPr>
        <p:spPr>
          <a:xfrm>
            <a:off x="8000608" y="5864558"/>
            <a:ext cx="2188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Predcition</a:t>
            </a:r>
            <a:r>
              <a:rPr lang="en-IN" dirty="0"/>
              <a:t> of crop</a:t>
            </a:r>
          </a:p>
        </p:txBody>
      </p:sp>
    </p:spTree>
    <p:extLst>
      <p:ext uri="{BB962C8B-B14F-4D97-AF65-F5344CB8AC3E}">
        <p14:creationId xmlns:p14="http://schemas.microsoft.com/office/powerpoint/2010/main" val="3516836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F10618-C4EC-F0CC-D31E-010C64140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487" y="1338944"/>
            <a:ext cx="4489490" cy="400594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616506-4F40-7E49-0E56-2B8EB6DBD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43" y="1338944"/>
            <a:ext cx="4985657" cy="40059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868435-8CC8-79B1-AF14-3603A5D4C496}"/>
              </a:ext>
            </a:extLst>
          </p:cNvPr>
          <p:cNvSpPr txBox="1"/>
          <p:nvPr/>
        </p:nvSpPr>
        <p:spPr>
          <a:xfrm>
            <a:off x="1317914" y="5769428"/>
            <a:ext cx="4831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Input page for Fertilizer recommendation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C36A3-BA4C-91B0-C6CE-26906FE88B46}"/>
              </a:ext>
            </a:extLst>
          </p:cNvPr>
          <p:cNvSpPr txBox="1"/>
          <p:nvPr/>
        </p:nvSpPr>
        <p:spPr>
          <a:xfrm>
            <a:off x="7560334" y="5769428"/>
            <a:ext cx="356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Recommendation of fertilizers </a:t>
            </a:r>
          </a:p>
        </p:txBody>
      </p:sp>
    </p:spTree>
    <p:extLst>
      <p:ext uri="{BB962C8B-B14F-4D97-AF65-F5344CB8AC3E}">
        <p14:creationId xmlns:p14="http://schemas.microsoft.com/office/powerpoint/2010/main" val="855473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0ED61-7EF4-234C-C7A1-BB7160A71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6822" y="449938"/>
            <a:ext cx="8911687" cy="1280890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E11695F-1590-81B8-9751-568A8F33FF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2336945"/>
              </p:ext>
            </p:extLst>
          </p:nvPr>
        </p:nvGraphicFramePr>
        <p:xfrm>
          <a:off x="2589213" y="1730828"/>
          <a:ext cx="8915400" cy="2343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4235569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156591394"/>
                    </a:ext>
                  </a:extLst>
                </a:gridCol>
              </a:tblGrid>
              <a:tr h="781110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64585"/>
                  </a:ext>
                </a:extLst>
              </a:tr>
              <a:tr h="781110">
                <a:tc>
                  <a:txBody>
                    <a:bodyPr/>
                    <a:lstStyle/>
                    <a:p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99.09%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5817293"/>
                  </a:ext>
                </a:extLst>
              </a:tr>
              <a:tr h="781110">
                <a:tc>
                  <a:txBody>
                    <a:bodyPr/>
                    <a:lstStyle/>
                    <a:p>
                      <a:r>
                        <a:rPr lang="en-IN" dirty="0"/>
                        <a:t>Random Forest &amp; </a:t>
                      </a:r>
                      <a:r>
                        <a:rPr lang="en-IN" dirty="0" err="1"/>
                        <a:t>XGBoost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95.55%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724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97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365596AA-1DCD-4ECE-B530-92635BB37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039" y="1421130"/>
            <a:ext cx="4871085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602F05-4EC5-BA5C-618E-4E5AD3ADF00B}"/>
              </a:ext>
            </a:extLst>
          </p:cNvPr>
          <p:cNvSpPr txBox="1"/>
          <p:nvPr/>
        </p:nvSpPr>
        <p:spPr>
          <a:xfrm>
            <a:off x="2140387" y="5436870"/>
            <a:ext cx="4287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Accuracy vs epochs graph for </a:t>
            </a:r>
            <a:r>
              <a:rPr lang="en-IN" sz="1600" dirty="0" err="1"/>
              <a:t>XGBoost</a:t>
            </a:r>
            <a:r>
              <a:rPr lang="en-IN" sz="1600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7CFA0-3C33-27D9-D1BC-E2C7F44C0F6B}"/>
              </a:ext>
            </a:extLst>
          </p:cNvPr>
          <p:cNvSpPr txBox="1"/>
          <p:nvPr/>
        </p:nvSpPr>
        <p:spPr>
          <a:xfrm>
            <a:off x="7538720" y="5059680"/>
            <a:ext cx="4206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/>
          </a:p>
          <a:p>
            <a:r>
              <a:rPr lang="en-IN" sz="1600" dirty="0"/>
              <a:t>Accuracy vs epochs graph for Random Forest and </a:t>
            </a:r>
            <a:r>
              <a:rPr lang="en-IN" sz="1600" dirty="0" err="1"/>
              <a:t>XGBoost</a:t>
            </a:r>
            <a:r>
              <a:rPr lang="en-IN" sz="1600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277105-E839-AA2E-B2F5-C485702A5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969" y="1360170"/>
            <a:ext cx="4792663" cy="369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415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E231-A1E7-F140-C648-6626C741A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9BAEA-5D36-0037-06FD-CEC93617C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02229"/>
            <a:ext cx="8915400" cy="50291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[1]</a:t>
            </a:r>
            <a:r>
              <a:rPr lang="en-IN" dirty="0"/>
              <a:t>Takalani </a:t>
            </a:r>
            <a:r>
              <a:rPr lang="en-IN" dirty="0" err="1"/>
              <a:t>Orifha</a:t>
            </a:r>
            <a:r>
              <a:rPr lang="en-IN" dirty="0"/>
              <a:t> </a:t>
            </a:r>
            <a:r>
              <a:rPr lang="en-IN" dirty="0" err="1"/>
              <a:t>Mufamadi</a:t>
            </a:r>
            <a:r>
              <a:rPr lang="en-IN" dirty="0"/>
              <a:t>, Ritesh </a:t>
            </a:r>
            <a:r>
              <a:rPr lang="en-IN" dirty="0" err="1"/>
              <a:t>Ajoodha</a:t>
            </a:r>
            <a:r>
              <a:rPr lang="en-IN" dirty="0"/>
              <a:t>,</a:t>
            </a:r>
            <a:r>
              <a:rPr lang="en-US" dirty="0"/>
              <a:t> Crop Recommendation using Machine Learning Algorithms and Soil Attributes Data.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AU" b="1" dirty="0"/>
              <a:t>[2</a:t>
            </a:r>
            <a:r>
              <a:rPr lang="en-AU" sz="1800" b="1" dirty="0"/>
              <a:t>] </a:t>
            </a:r>
            <a:r>
              <a:rPr lang="en-AU" sz="1800" dirty="0"/>
              <a:t>10th International Conference on Computing, Communication and Networking Technologies, “Low-cost IOT+ML design for smart farming with multiple applications”, Fahad </a:t>
            </a:r>
            <a:r>
              <a:rPr lang="en-AU" sz="1800" dirty="0" err="1"/>
              <a:t>Kamraan</a:t>
            </a:r>
            <a:r>
              <a:rPr lang="en-AU" sz="1800" dirty="0"/>
              <a:t> Syed, </a:t>
            </a:r>
            <a:r>
              <a:rPr lang="en-AU" sz="1800" dirty="0" err="1"/>
              <a:t>Agniswar</a:t>
            </a:r>
            <a:r>
              <a:rPr lang="en-AU" sz="1800" dirty="0"/>
              <a:t> Paul, Ajay Kumar, Jaideep </a:t>
            </a:r>
            <a:r>
              <a:rPr lang="en-AU" sz="1800" dirty="0" err="1"/>
              <a:t>Cherukuri</a:t>
            </a:r>
            <a:r>
              <a:rPr lang="en-AU" sz="1800" dirty="0"/>
              <a:t>. 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AU" sz="1800" b="1" dirty="0"/>
              <a:t>[3] </a:t>
            </a:r>
            <a:r>
              <a:rPr lang="en-AU" sz="1800" dirty="0"/>
              <a:t>2019  IEEE  “ Smart Management of Crop Cultivation using IoT and Machine Learning”   Archana Gupta,  </a:t>
            </a:r>
            <a:r>
              <a:rPr lang="en-AU" sz="1800" dirty="0" err="1"/>
              <a:t>Dharmil</a:t>
            </a:r>
            <a:r>
              <a:rPr lang="en-AU" sz="1800" dirty="0"/>
              <a:t> </a:t>
            </a:r>
            <a:r>
              <a:rPr lang="en-AU" sz="1800" dirty="0" err="1"/>
              <a:t>Nagda</a:t>
            </a:r>
            <a:r>
              <a:rPr lang="en-AU" sz="1800" dirty="0"/>
              <a:t>,  Pratiksha </a:t>
            </a:r>
            <a:r>
              <a:rPr lang="en-AU" sz="1800" dirty="0" err="1"/>
              <a:t>Nikhare</a:t>
            </a:r>
            <a:r>
              <a:rPr lang="en-AU" sz="1800" dirty="0"/>
              <a:t>,  Atharva </a:t>
            </a:r>
            <a:r>
              <a:rPr lang="en-AU" sz="1800" dirty="0" err="1"/>
              <a:t>Sandbhor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AU" sz="1800" b="1" dirty="0"/>
              <a:t>[4] </a:t>
            </a:r>
            <a:r>
              <a:rPr lang="en-AU" sz="1800" dirty="0"/>
              <a:t>Radhika, </a:t>
            </a:r>
            <a:r>
              <a:rPr lang="en-AU" sz="1800" dirty="0" err="1"/>
              <a:t>Narendiran</a:t>
            </a:r>
            <a:r>
              <a:rPr lang="en-AU" sz="1800" dirty="0"/>
              <a:t>, “Kind of Crops and Small Plants Prediction using IoT with Machine Learning,” International Journal of Computer &amp; Mathematical Sciences.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AU" sz="1800" b="1" dirty="0"/>
              <a:t>[5] </a:t>
            </a:r>
            <a:r>
              <a:rPr lang="en-AU" sz="1800" dirty="0"/>
              <a:t>“Crop Recommendation on </a:t>
            </a:r>
            <a:r>
              <a:rPr lang="en-AU" sz="1800" dirty="0" err="1"/>
              <a:t>Analyzing</a:t>
            </a:r>
            <a:r>
              <a:rPr lang="en-AU" sz="1800" dirty="0"/>
              <a:t> Soil Using Machine Learning” </a:t>
            </a:r>
            <a:r>
              <a:rPr lang="en-AU" sz="1800" dirty="0" err="1"/>
              <a:t>Anguraj.Ka</a:t>
            </a:r>
            <a:r>
              <a:rPr lang="en-AU" sz="1800" dirty="0"/>
              <a:t>, </a:t>
            </a:r>
            <a:r>
              <a:rPr lang="en-AU" sz="1800" dirty="0" err="1"/>
              <a:t>Thiyaneswaran.Bb</a:t>
            </a:r>
            <a:r>
              <a:rPr lang="en-AU" sz="1800" dirty="0"/>
              <a:t>, </a:t>
            </a:r>
            <a:r>
              <a:rPr lang="en-AU" sz="1800" dirty="0" err="1"/>
              <a:t>Megashree.Gc</a:t>
            </a:r>
            <a:r>
              <a:rPr lang="en-AU" sz="1800" dirty="0"/>
              <a:t>, Preetha </a:t>
            </a:r>
            <a:r>
              <a:rPr lang="en-AU" sz="1800" dirty="0" err="1"/>
              <a:t>Shri.J.Gd</a:t>
            </a:r>
            <a:r>
              <a:rPr lang="en-AU" sz="1800" dirty="0"/>
              <a:t>, </a:t>
            </a:r>
            <a:r>
              <a:rPr lang="en-AU" sz="1800" dirty="0" err="1"/>
              <a:t>Navya.Se</a:t>
            </a:r>
            <a:r>
              <a:rPr lang="en-AU" sz="1800" dirty="0"/>
              <a:t>, Jayanthi. </a:t>
            </a:r>
            <a:r>
              <a:rPr lang="en-AU" sz="1800" dirty="0" err="1"/>
              <a:t>Jf</a:t>
            </a:r>
            <a:r>
              <a:rPr lang="en-AU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AU" b="1" dirty="0"/>
              <a:t>[</a:t>
            </a:r>
            <a:r>
              <a:rPr lang="en-AU" sz="1800" b="1" dirty="0"/>
              <a:t>6] </a:t>
            </a:r>
            <a:r>
              <a:rPr lang="en-AU" sz="1800" dirty="0"/>
              <a:t>“Classification of Soil and Crop Suggestion using Machine Learning Techniques”, A. Mythili , IEEE 2019.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AU" sz="1800" b="1" dirty="0"/>
              <a:t>[7] </a:t>
            </a:r>
            <a:r>
              <a:rPr lang="en-AU" sz="1800" dirty="0"/>
              <a:t>Mehta, P., Shah, H., Kori, V., </a:t>
            </a:r>
            <a:r>
              <a:rPr lang="en-AU" sz="1800" dirty="0" err="1"/>
              <a:t>Vikani</a:t>
            </a:r>
            <a:r>
              <a:rPr lang="en-AU" sz="1800" dirty="0"/>
              <a:t>, V., Shukla, S., &amp; Shenoy, M.,2018. “Survey of unsupervised machine learning algorithms on precision agricultural data”, IEEE</a:t>
            </a:r>
            <a:endParaRPr lang="en-IN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AU" sz="1800" b="1" dirty="0"/>
              <a:t>[8] </a:t>
            </a:r>
            <a:r>
              <a:rPr lang="en-AU" sz="1800" dirty="0"/>
              <a:t>“IOT based Crop Recommendation, Crop Disease Prediction and Its Solution” Rani </a:t>
            </a:r>
            <a:r>
              <a:rPr lang="en-AU" sz="1800" dirty="0" err="1"/>
              <a:t>Holambe</a:t>
            </a:r>
            <a:r>
              <a:rPr lang="en-AU" sz="1800" dirty="0"/>
              <a:t>, Pooja Patil, Padmaja Pawar, Saurabh </a:t>
            </a:r>
            <a:r>
              <a:rPr lang="en-AU" sz="1800" dirty="0" err="1"/>
              <a:t>Salunkhe</a:t>
            </a:r>
            <a:r>
              <a:rPr lang="en-AU" sz="1800" dirty="0"/>
              <a:t> , Mr. </a:t>
            </a:r>
            <a:r>
              <a:rPr lang="en-AU" sz="1800" dirty="0" err="1"/>
              <a:t>Hrushikesh</a:t>
            </a:r>
            <a:r>
              <a:rPr lang="en-AU" sz="1800" dirty="0"/>
              <a:t> Joshi, 2019 IRJET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636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BCA1-47B1-B369-4361-4D2ECCDA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765" y="81280"/>
            <a:ext cx="8911687" cy="589280"/>
          </a:xfrm>
        </p:spPr>
        <p:txBody>
          <a:bodyPr>
            <a:normAutofit fontScale="90000"/>
          </a:bodyPr>
          <a:lstStyle/>
          <a:p>
            <a:r>
              <a:rPr lang="en-IN" dirty="0"/>
              <a:t>PUBLICATION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81567-E2DA-3E23-D85B-204DEC05B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7521" y="670560"/>
            <a:ext cx="9757092" cy="59740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400" dirty="0"/>
              <a:t>We published our previous work titled </a:t>
            </a:r>
            <a:r>
              <a:rPr lang="en-US" sz="1400" b="1" dirty="0"/>
              <a:t>"A </a:t>
            </a:r>
            <a:r>
              <a:rPr lang="en-US" sz="1400" b="1" dirty="0" err="1"/>
              <a:t>ResNet</a:t>
            </a:r>
            <a:r>
              <a:rPr lang="en-US" sz="1400" b="1" dirty="0"/>
              <a:t> Based Plant Disease Diagnosis Platform"</a:t>
            </a:r>
            <a:r>
              <a:rPr lang="en-US" sz="1400" dirty="0"/>
              <a:t> in the </a:t>
            </a:r>
            <a:r>
              <a:rPr lang="en-US" sz="1400" b="1" dirty="0"/>
              <a:t>7th International Conference on Signal Processing, Computing and Control (ISPCC 2k25)</a:t>
            </a:r>
            <a:r>
              <a:rPr lang="en-US" sz="1400" dirty="0"/>
              <a:t>, organized by the Department of Electronics and Communication Engineering, JUIT, </a:t>
            </a:r>
            <a:r>
              <a:rPr lang="en-US" sz="1400" dirty="0" err="1"/>
              <a:t>Waknaghat</a:t>
            </a:r>
            <a:r>
              <a:rPr lang="en-US" sz="1400" dirty="0"/>
              <a:t>, Solan (H.P.), from March 6–8, 2025.</a:t>
            </a:r>
          </a:p>
          <a:p>
            <a:pPr marL="0" indent="0" algn="just">
              <a:buNone/>
            </a:pPr>
            <a:endParaRPr lang="en-IN" sz="1400" dirty="0"/>
          </a:p>
        </p:txBody>
      </p:sp>
      <p:pic>
        <p:nvPicPr>
          <p:cNvPr id="5" name="Image 75">
            <a:extLst>
              <a:ext uri="{FF2B5EF4-FFF2-40B4-BE49-F238E27FC236}">
                <a16:creationId xmlns:a16="http://schemas.microsoft.com/office/drawing/2014/main" id="{9A7B8E9A-FF2E-0B3F-A209-89836575EBD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45361" y="1442720"/>
            <a:ext cx="8199118" cy="533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3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D23CC-C6EE-A599-D4DC-CC3AB6258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558" y="223520"/>
            <a:ext cx="9613265" cy="5413382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/>
              <a:t>We have submitted a research paper titled </a:t>
            </a:r>
            <a:r>
              <a:rPr lang="en-US" sz="1400" i="1" dirty="0"/>
              <a:t>“A </a:t>
            </a:r>
            <a:r>
              <a:rPr lang="en-US" sz="1400" i="1" dirty="0" err="1"/>
              <a:t>ResNet</a:t>
            </a:r>
            <a:r>
              <a:rPr lang="en-US" sz="1400" i="1" dirty="0"/>
              <a:t> Based Plant Disease Diagnosis Platform”</a:t>
            </a:r>
            <a:r>
              <a:rPr lang="en-US" sz="1400" dirty="0"/>
              <a:t> to the International Conference on Emerging Techniques in Computational Intelligence (ICETCI 2025), and the acceptance decision is currently pending.</a:t>
            </a:r>
            <a:r>
              <a:rPr lang="en-IN" sz="1400" dirty="0"/>
              <a:t>For the current work we have submitted a paper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BCF446-85D5-0E88-EA31-376260ED8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17" y="1148080"/>
            <a:ext cx="961326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08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</TotalTime>
  <Words>1223</Words>
  <Application>Microsoft Office PowerPoint</Application>
  <PresentationFormat>Widescreen</PresentationFormat>
  <Paragraphs>124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inherit</vt:lpstr>
      <vt:lpstr>Times New Roman</vt:lpstr>
      <vt:lpstr>Office Theme</vt:lpstr>
      <vt:lpstr>An Integrated Machine Learning Framework for Crop Selection, Fertilizer Suggestion, and Disease Diagnosis.  </vt:lpstr>
      <vt:lpstr>ABSTRACT</vt:lpstr>
      <vt:lpstr>PROBLEM STATEMENT</vt:lpstr>
      <vt:lpstr>RESEARCH PAPERS STUDIED</vt:lpstr>
      <vt:lpstr>SOFTWARE AND HARDWARE REQUIREMENTS</vt:lpstr>
      <vt:lpstr>EXISTING METHOLOGY</vt:lpstr>
      <vt:lpstr>PROPOSED METHODOLOGY</vt:lpstr>
      <vt:lpstr>PowerPoint Presentation</vt:lpstr>
      <vt:lpstr>ARCHITECTURE DIAGRAM </vt:lpstr>
      <vt:lpstr>DATASET DESCRIPTION  </vt:lpstr>
      <vt:lpstr>OUTPUT</vt:lpstr>
      <vt:lpstr>PowerPoint Presentation</vt:lpstr>
      <vt:lpstr>Results</vt:lpstr>
      <vt:lpstr>PowerPoint Presentation</vt:lpstr>
      <vt:lpstr>REFERENCES</vt:lpstr>
      <vt:lpstr>PUBLICATION STATUS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Deepthi Modugula</dc:creator>
  <cp:lastModifiedBy>Deepthi Modugula</cp:lastModifiedBy>
  <cp:revision>10</cp:revision>
  <dcterms:created xsi:type="dcterms:W3CDTF">2025-01-29T07:58:33Z</dcterms:created>
  <dcterms:modified xsi:type="dcterms:W3CDTF">2025-05-02T04:42:50Z</dcterms:modified>
</cp:coreProperties>
</file>